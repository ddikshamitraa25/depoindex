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6596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DepoIndex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188720" y="297180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Deposition Topic Index with Deterministic Provenance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272888" y="3675888"/>
            <a:ext cx="1645920" cy="0"/>
          </a:xfrm>
          <a:prstGeom prst="line">
            <a:avLst/>
          </a:prstGeom>
          <a:noFill/>
          <a:ln w="19050">
            <a:solidFill>
              <a:srgbClr val="3A6E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384048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Persis Yu Deposition (Heather Turrey v. Vervent, Inc.)  |  Problem #3 Implementation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74920"/>
            <a:ext cx="3210458" cy="1051560"/>
          </a:xfrm>
          <a:prstGeom prst="rect">
            <a:avLst/>
          </a:prstGeom>
          <a:solidFill>
            <a:srgbClr val="1C2C5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84648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5696712"/>
            <a:ext cx="3210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PROCESSED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90618" y="5074920"/>
            <a:ext cx="3210458" cy="1051560"/>
          </a:xfrm>
          <a:prstGeom prst="rect">
            <a:avLst/>
          </a:prstGeom>
          <a:solidFill>
            <a:srgbClr val="1C2C52"/>
          </a:solidFill>
          <a:ln/>
        </p:spPr>
      </p:sp>
      <p:sp>
        <p:nvSpPr>
          <p:cNvPr id="10" name="Text 8"/>
          <p:cNvSpPr/>
          <p:nvPr/>
        </p:nvSpPr>
        <p:spPr>
          <a:xfrm>
            <a:off x="4490618" y="5184648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2,042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490618" y="5696712"/>
            <a:ext cx="3210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TESTIMONY LINES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49717" y="5074920"/>
            <a:ext cx="3210458" cy="1051560"/>
          </a:xfrm>
          <a:prstGeom prst="rect">
            <a:avLst/>
          </a:prstGeom>
          <a:solidFill>
            <a:srgbClr val="1C2C52"/>
          </a:solidFill>
          <a:ln/>
        </p:spPr>
      </p:sp>
      <p:sp>
        <p:nvSpPr>
          <p:cNvPr id="13" name="Text 11"/>
          <p:cNvSpPr/>
          <p:nvPr/>
        </p:nvSpPr>
        <p:spPr>
          <a:xfrm>
            <a:off x="8249717" y="5184648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49717" y="5696712"/>
            <a:ext cx="3210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TOPICS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Deterministic Provenance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canonical transcript truth without probabilistic hallucinations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0052" y="214884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0424" y="2350008"/>
            <a:ext cx="402336" cy="402336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6" name="Text 4"/>
          <p:cNvSpPr/>
          <p:nvPr/>
        </p:nvSpPr>
        <p:spPr>
          <a:xfrm>
            <a:off x="1560424" y="2350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3204" y="292608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1492" y="34472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pages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53132" y="2148840"/>
            <a:ext cx="3840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037180" y="214884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7552" y="2350008"/>
            <a:ext cx="402336" cy="402336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2" name="Text 10"/>
          <p:cNvSpPr/>
          <p:nvPr/>
        </p:nvSpPr>
        <p:spPr>
          <a:xfrm>
            <a:off x="3727552" y="2350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10332" y="292608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Canonical Lines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128620" y="34472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2,042 testimony lines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20260" y="2148840"/>
            <a:ext cx="3840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204308" y="214884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94680" y="2350008"/>
            <a:ext cx="402336" cy="402336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8" name="Text 16"/>
          <p:cNvSpPr/>
          <p:nvPr/>
        </p:nvSpPr>
        <p:spPr>
          <a:xfrm>
            <a:off x="5894680" y="2350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77460" y="292608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Segmentation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295748" y="34472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→ QAUnits → chunks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87388" y="2148840"/>
            <a:ext cx="3840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371436" y="214884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E8EEF6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61808" y="2350008"/>
            <a:ext cx="402336" cy="402336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4" name="Text 22"/>
          <p:cNvSpPr/>
          <p:nvPr/>
        </p:nvSpPr>
        <p:spPr>
          <a:xfrm>
            <a:off x="8061808" y="2350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44588" y="292608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 Validation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462876" y="34472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P&lt;page&gt;:L&lt;line&gt;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54516" y="2148840"/>
            <a:ext cx="3840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538564" y="214884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28936" y="2350008"/>
            <a:ext cx="402336" cy="402336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30" name="Text 28"/>
          <p:cNvSpPr/>
          <p:nvPr/>
        </p:nvSpPr>
        <p:spPr>
          <a:xfrm>
            <a:off x="10228936" y="2350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11716" y="292608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630004" y="34472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exact source lines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280160" y="4572000"/>
            <a:ext cx="9631375" cy="68580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/>
        </p:spPr>
      </p:sp>
      <p:sp>
        <p:nvSpPr>
          <p:cNvPr id="34" name="Text 32"/>
          <p:cNvSpPr/>
          <p:nvPr/>
        </p:nvSpPr>
        <p:spPr>
          <a:xfrm>
            <a:off x="1463040" y="4572000"/>
            <a:ext cx="9265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is deterministic — every citation comes from transcript coordinates, never from generated text.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DepoIndex — Problem #3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Segmentation &amp; Recurrence Strategy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conversational continuity with non-contiguous legal recurrence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410048" cy="3794760"/>
          </a:xfrm>
          <a:prstGeom prst="roundRect">
            <a:avLst>
              <a:gd name="adj" fmla="val 1446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9456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DCE5F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6785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600"/>
              </a:lnSpc>
              <a:spcAft>
                <a:spcPts val="2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→ QAUnits → chunks</a:t>
            </a:r>
            <a:endParaRPr lang="en-US" sz="1600" dirty="0"/>
          </a:p>
          <a:p>
            <a:pPr marL="228600" indent="-228600">
              <a:lnSpc>
                <a:spcPts val="2600"/>
              </a:lnSpc>
              <a:spcAft>
                <a:spcPts val="2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TF-IDF + cosine similarity</a:t>
            </a:r>
            <a:endParaRPr lang="en-US" sz="1600" dirty="0"/>
          </a:p>
          <a:p>
            <a:pPr marL="228600" indent="-228600">
              <a:lnSpc>
                <a:spcPts val="2600"/>
              </a:lnSpc>
              <a:spcAft>
                <a:spcPts val="2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 constraint prevents topic drift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24448" y="1874520"/>
            <a:ext cx="5410048" cy="3794760"/>
          </a:xfrm>
          <a:prstGeom prst="roundRect">
            <a:avLst>
              <a:gd name="adj" fmla="val 1446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44488" y="219456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DCE5F2"/>
          </a:solidFill>
          <a:ln/>
        </p:spPr>
      </p:sp>
      <p:sp>
        <p:nvSpPr>
          <p:cNvPr id="10" name="Text 8"/>
          <p:cNvSpPr/>
          <p:nvPr/>
        </p:nvSpPr>
        <p:spPr>
          <a:xfrm>
            <a:off x="6644488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Recurrence &amp; Digression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90208" y="2971800"/>
            <a:ext cx="46785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600"/>
              </a:lnSpc>
              <a:spcAft>
                <a:spcPts val="2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interruptions are coalesced</a:t>
            </a:r>
            <a:endParaRPr lang="en-US" sz="1600" dirty="0"/>
          </a:p>
          <a:p>
            <a:pPr marL="228600" indent="-228600">
              <a:lnSpc>
                <a:spcPts val="2600"/>
              </a:lnSpc>
              <a:spcAft>
                <a:spcPts val="2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Non-contiguous recurrence architecture implemented</a:t>
            </a:r>
            <a:endParaRPr lang="en-US" sz="1600" dirty="0"/>
          </a:p>
          <a:p>
            <a:pPr marL="228600" indent="-228600">
              <a:lnSpc>
                <a:spcPts val="2600"/>
              </a:lnSpc>
              <a:spcAft>
                <a:spcPts val="2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MAX_PAGES_CONTINUE = 8</a:t>
            </a:r>
            <a:endParaRPr lang="en-US" sz="1600" dirty="0"/>
          </a:p>
          <a:p>
            <a:pPr marL="228600" indent="-228600">
              <a:lnSpc>
                <a:spcPts val="2600"/>
              </a:lnSpc>
              <a:spcAft>
                <a:spcPts val="2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recurrence link triggered on this deposition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DepoIndex — Problem #3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Validation &amp; 3-Run Stability Testing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experimental results demonstrating bit-level determinism and coverage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2545004" cy="2514600"/>
          </a:xfrm>
          <a:prstGeom prst="roundRect">
            <a:avLst>
              <a:gd name="adj" fmla="val 2909"/>
            </a:avLst>
          </a:prstGeom>
          <a:solidFill>
            <a:srgbClr val="E8EEF6"/>
          </a:solidFill>
          <a:ln/>
          <a:effectLst>
            <a:outerShdw sx="100000" sy="100000" kx="0" ky="0" algn="bl" rotWithShape="0" blurRad="63500" dist="25400" dir="5400000">
              <a:srgbClr val="80808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194560"/>
            <a:ext cx="25450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23621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Topics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67964" y="1874520"/>
            <a:ext cx="2545004" cy="2514600"/>
          </a:xfrm>
          <a:prstGeom prst="roundRect">
            <a:avLst>
              <a:gd name="adj" fmla="val 2909"/>
            </a:avLst>
          </a:prstGeom>
          <a:solidFill>
            <a:srgbClr val="E7F5EA"/>
          </a:solidFill>
          <a:ln/>
          <a:effectLst>
            <a:outerShdw sx="100000" sy="100000" kx="0" ky="0" algn="bl" rotWithShape="0" blurRad="63500" dist="25400" dir="5400000">
              <a:srgbClr val="80808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67964" y="2194560"/>
            <a:ext cx="25450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9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59404" y="3291840"/>
            <a:ext cx="23621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Accuracy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78728" y="1874520"/>
            <a:ext cx="2545004" cy="2514600"/>
          </a:xfrm>
          <a:prstGeom prst="roundRect">
            <a:avLst>
              <a:gd name="adj" fmla="val 2909"/>
            </a:avLst>
          </a:prstGeom>
          <a:solidFill>
            <a:srgbClr val="E7F5EA"/>
          </a:solidFill>
          <a:ln/>
          <a:effectLst>
            <a:outerShdw sx="100000" sy="100000" kx="0" ky="0" algn="bl" rotWithShape="0" blurRad="63500" dist="25400" dir="5400000">
              <a:srgbClr val="80808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78728" y="2194560"/>
            <a:ext cx="25450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9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70168" y="3291840"/>
            <a:ext cx="23621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89491" y="1874520"/>
            <a:ext cx="2545004" cy="2514600"/>
          </a:xfrm>
          <a:prstGeom prst="roundRect">
            <a:avLst>
              <a:gd name="adj" fmla="val 2909"/>
            </a:avLst>
          </a:prstGeom>
          <a:solidFill>
            <a:srgbClr val="E8EEF6"/>
          </a:solidFill>
          <a:ln/>
          <a:effectLst>
            <a:outerShdw sx="100000" sy="100000" kx="0" ky="0" algn="bl" rotWithShape="0" blurRad="63500" dist="25400" dir="5400000">
              <a:srgbClr val="80808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9491" y="2194560"/>
            <a:ext cx="25450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/ 29 / 29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280931" y="3291840"/>
            <a:ext cx="23621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Across 3 Runs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11277295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00600"/>
            <a:ext cx="25450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selected topics manually audited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67964" y="4800600"/>
            <a:ext cx="25450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2,042 testimony lines mapped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78728" y="4800600"/>
            <a:ext cx="25450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topics in each independent run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89491" y="4800600"/>
            <a:ext cx="25450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and output checksums matched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DepoIndex — Problem #3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Analysis &amp; Engineering Limitations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edge cases analyzed, fixes implemented, and production trade-offs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79294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993392"/>
            <a:ext cx="2359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"A"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89647" y="2423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7F5EA"/>
          </a:solidFill>
          <a:ln/>
        </p:spPr>
      </p:sp>
      <p:sp>
        <p:nvSpPr>
          <p:cNvPr id="7" name="Text 5"/>
          <p:cNvSpPr/>
          <p:nvPr/>
        </p:nvSpPr>
        <p:spPr>
          <a:xfrm>
            <a:off x="1289647" y="2423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788920"/>
            <a:ext cx="23598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Coordinate-based speaker detection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6534" y="1828800"/>
            <a:ext cx="2579294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66262" y="1993392"/>
            <a:ext cx="2359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88981" y="2423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7F5EA"/>
          </a:solidFill>
          <a:ln/>
        </p:spPr>
      </p:sp>
      <p:sp>
        <p:nvSpPr>
          <p:cNvPr id="12" name="Text 10"/>
          <p:cNvSpPr/>
          <p:nvPr/>
        </p:nvSpPr>
        <p:spPr>
          <a:xfrm>
            <a:off x="4188981" y="2423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66262" y="2788920"/>
            <a:ext cx="23598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rejection + courtesy stripping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55868" y="1828800"/>
            <a:ext cx="2579294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65596" y="1993392"/>
            <a:ext cx="2359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DRIFT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88315" y="2423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7F5EA"/>
          </a:solidFill>
          <a:ln/>
        </p:spPr>
      </p:sp>
      <p:sp>
        <p:nvSpPr>
          <p:cNvPr id="17" name="Text 15"/>
          <p:cNvSpPr/>
          <p:nvPr/>
        </p:nvSpPr>
        <p:spPr>
          <a:xfrm>
            <a:off x="7088315" y="2423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65596" y="2788920"/>
            <a:ext cx="23598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MAX_PAGES_CONTINUE + recurrence gap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55201" y="1828800"/>
            <a:ext cx="2579294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64929" y="1993392"/>
            <a:ext cx="2359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RECESSES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987648" y="2423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7F5EA"/>
          </a:solidFill>
          <a:ln/>
        </p:spPr>
      </p:sp>
      <p:sp>
        <p:nvSpPr>
          <p:cNvPr id="22" name="Text 20"/>
          <p:cNvSpPr/>
          <p:nvPr/>
        </p:nvSpPr>
        <p:spPr>
          <a:xfrm>
            <a:off x="9987648" y="2423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64929" y="2788920"/>
            <a:ext cx="23598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turn coalescing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11277295" cy="1600200"/>
          </a:xfrm>
          <a:prstGeom prst="roundRect">
            <a:avLst>
              <a:gd name="adj" fmla="val 3429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462272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77240" y="498348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Single-speaker monologue spans need finer semantic boundaries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78728" y="498348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LLM token costs at scale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548640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Cross-deposition scaling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78728" y="548640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video timestamp synchronization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DepoIndex — Problem #3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2026-09-13T13:30:04Z</dcterms:created>
  <dcterms:modified xsi:type="dcterms:W3CDTF">2026-09-13T13:30:04Z</dcterms:modified>
</cp:coreProperties>
</file>