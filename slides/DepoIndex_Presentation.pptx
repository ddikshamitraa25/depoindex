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639"/>
                </a:solidFill>
              </a:defRPr>
            </a:pPr>
            <a:r>
              <a:t>DepoIndex</a:t>
            </a:r>
          </a:p>
          <a:p>
            <a:pPr>
              <a:spcBef>
                <a:spcPts val="800"/>
              </a:spcBef>
              <a:defRPr sz="2200">
                <a:solidFill>
                  <a:srgbClr val="BE732D"/>
                </a:solidFill>
              </a:defRPr>
            </a:pPr>
            <a:r>
              <a:t>AI-Powered Deposition Topic Index with Deterministic Provenance</a:t>
            </a:r>
          </a:p>
          <a:p>
            <a:pPr>
              <a:spcBef>
                <a:spcPts val="1600"/>
              </a:spcBef>
              <a:defRPr sz="1400">
                <a:solidFill>
                  <a:srgbClr val="5A6473"/>
                </a:solidFill>
              </a:defRPr>
            </a:pPr>
            <a:r>
              <a:t>Target: Persis Yu Deposition (Heather Turrey v. Vervent, Inc.) | Problem #3 Implementation</a:t>
            </a:r>
          </a:p>
          <a:p>
            <a:pPr>
              <a:spcBef>
                <a:spcPts val="2400"/>
              </a:spcBef>
              <a:defRPr sz="1300">
                <a:solidFill>
                  <a:srgbClr val="1E1E1E"/>
                </a:solidFill>
              </a:defRPr>
            </a:pPr>
            <a:r>
              <a:t>Core Mission: Deliver a provenance-first legal indexing system where every generated topic is deterministically grounded in verified page/line transcript coordinates. The LLM or semantic layer is never permitted to invent citations. Proven through 100% reproducible execution across 122 pages, 2,042 testimony lines, and 29 chronological topics.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System Architecture &amp; Deterministic Provenance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Extracting canonical transcript truth without probabilistic hallucinations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1. Coordinate Extraction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PyMuPDF word bounding boxes extract visual text columns.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Geometric rule: Q &amp; A speaker cues occur strictly at x0=145.5 pt.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Eliminates false-speaker bugs where words like 'A couple' were misclassified as witness answers.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Extracts 122 total pages, identifying 82 testimony pages (P7:L1 to P88:L17) and 2,042 testimony lines.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2. Immutable Provenance IDs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Every extracted transcript line receives an immutable source ID: P&lt;page&gt;:L&lt;line&gt;.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records maintain exact start/end page and line plus complete list of enclosed source_ids.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Deterministic ProvenanceValidator verifies line existence, start &lt;= end ordering, and evidence quotes.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Zero invented references: citations come from transcript coordinates, never LLM text outputs.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3. Chunking &amp; Segmentation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Testimony is segmented into conversational Turns and grouped into QAUnits (question, answers, colloquy).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Procedural tags detect objections, recesses, and reporter announcements.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Chunks are assigned immutable IDs (C001, C002) and bounded to target character windows.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Attorney UI links each topic directly to underlying verified transcript 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Topic Segmentation &amp; Recurrence Strategy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Balancing conversational continuity with non-contiguous legal recurrence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Dispersed Recurrence &amp; Digression Policy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Conversational Digressions: Brief procedural interruptions (breaks at P37:L10, P76:L5) are coalesced into enclosing chunks rather than creating artificial micro-topics.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Recurrence Policy: Key subjects (CFPB Settlement, PEAKS unenforceability) appear at non-contiguous intervals (P61, P82, P86).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Locality Constraints: MAX_PAGES_CONTINUE = 8 prevents runaway topic drift. Intervening testimony forces clean chronological topic boundaries.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Recurrence Handling: Recurrence architecture implemented (recurrence_of, related_topic_ids); no recurrence link was triggered on this deposition.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Real Generated Output Samples (from 29 topics)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T001 (P7:L1 - P9:L18): Counsel introduction, perjury admonition, prior depositions.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T002 (P9:L19 - P11:L17): Marking Exhibit 1 (Expert Report), law school &amp; CV.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T005 (P16:L16 - P23:L22): Initiatives directed at student loan servicers.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T010 (P29:L2 - P34:L7): Economic value of ITT diploma, Senate HELP report.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T016 (P44:L18 - P51:L2): Qualifications regarding PEAKS loans, bankruptcy orders.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T023 (P66:L22 - P75:L4): Multistate AG, SEC, and CFPB investigations into PEAKS.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T029 (P86:L10 - P88:L17): Core opinion: loans unenforceable at inception.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Empirical Validation &amp; 3-Run Stability Testing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Real experimental results demonstrating bit-level determinism and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Manual Quality Audit (25 Selected Topics)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Audit Sample: 25 topics evaluated across early, middle, and concluding testimony.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Location Accuracy: 100.0% (all start/end coordinates match canonical transcript lines).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Relevance: 100.0% (labels accurately capture substantive lines of inquiry).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Boundary Quality: 95.5% (clean alignment with question transitions and exhibit shifts).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Coverage &amp; Zero Gaps: 100% of 2,042 testimony lines mapped without missing spans.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Documented in validation/manual_validation_report.json and .md.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Three-Run Stability Comparison (runs/run1-3)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Pipeline executed 3 independent times on the Persis Yu PDF.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Topic Count: 29 in Run 1, 29 in Run 2, 29 in Run 3 (100% Identical).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Boundaries: All 29 start and end coordinates match identically across runs.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SHA-256 Checksums: canonical_transcript.json, chunks.json, completeness_report.json, topic_index.json, and topic_index.md match bit-for-bit.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Proves mathematical determinism of coordinate extraction, vector centroids, and threshold segmentation.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Documented in outputs/stability_report.md.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A2639"/>
                </a:solidFill>
              </a:defRPr>
            </a:pPr>
            <a:r>
              <a:t>Failure Analysis &amp; Engineering Limitations</a:t>
            </a:r>
          </a:p>
          <a:p>
            <a:pPr>
              <a:spcBef>
                <a:spcPts val="400"/>
              </a:spcBef>
              <a:defRPr sz="1400">
                <a:solidFill>
                  <a:srgbClr val="5A6473"/>
                </a:solidFill>
              </a:defRPr>
            </a:pPr>
            <a:r>
              <a:t>Real edge cases analyzed, fixes implemented, and production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Resolved Failure Modes (Real Edge Cases)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1 (False 'A' Speaker): Regex ^A\b stripped leading 'A' from sentences like 'A couple questions'. Fixed via PyMuPDF column coordinate filtering (x0=145.5).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2 (Interrupted Fragments): Greedy selection picked '-- talking about?' at P36:L7 after simultaneous speech parenthetical. Fixed with fragment rejection and courtesy stripping.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3 (Semantic Drift Across Spans): Risk of merging distant CFPB passages across 26 pages. Fixed via MAX_PAGES_CONTINUE (8) and RECURRENCE_GAP (4).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Case 4 (Procedural Interruptions): Off-the-record breaks causing topic fragmentation. Fixed with procedural turn coalescing.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BE732D"/>
                </a:solidFill>
              </a:defRPr>
            </a:pPr>
            <a:r>
              <a:t>Current Limitations &amp; Production Roadmap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Single-Speaker Monologue Spans: Extended multi-paragraph answers by an expert require finer sub-sentence semantic boundary detection.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External LLM Token Costs: Running large commercial LLMs over 2,000 lines requires chunk batching; fallback deterministic engine ensures zero downtime.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Cross-Deposition Scaling: Expanding from single deposition to multi-witness depositions in complex MDL litigation.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• Attorney App: FastAPI + Vanilla JS provides search, filter, and exact source line viewing; future iteration can support deposition video timestamp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